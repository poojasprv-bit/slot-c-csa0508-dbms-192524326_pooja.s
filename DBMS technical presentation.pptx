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700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20541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1554480"/>
            <a:ext cx="0" cy="457200"/>
          </a:xfrm>
          <a:prstGeom prst="line">
            <a:avLst/>
          </a:prstGeom>
          <a:noFill/>
          <a:ln w="254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85832" y="2011680"/>
            <a:ext cx="402336" cy="402336"/>
          </a:xfrm>
          <a:prstGeom prst="ellipse">
            <a:avLst/>
          </a:prstGeom>
          <a:solidFill>
            <a:srgbClr val="21295C">
              <a:alpha val="90000"/>
            </a:srgbClr>
          </a:solidFill>
          <a:ln w="254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2414016"/>
            <a:ext cx="1234440" cy="502920"/>
          </a:xfrm>
          <a:prstGeom prst="line">
            <a:avLst/>
          </a:prstGeom>
          <a:noFill/>
          <a:ln w="254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0" y="2414016"/>
            <a:ext cx="1234440" cy="502920"/>
          </a:xfrm>
          <a:prstGeom prst="line">
            <a:avLst/>
          </a:prstGeom>
          <a:noFill/>
          <a:ln w="254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0" y="2916936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87000" y="2916936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·  EXTENDED ER MODELING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Enhanced ER (EER) Model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Specialization, illustrated through a University database case study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4800600"/>
            <a:ext cx="128016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kern="0" spc="5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Superclasses  ·  Subclasses  ·  Inheritance  ·  Constraints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E1BC6A-6179-4784-6A7F-4C28E4C6EDC5}"/>
              </a:ext>
            </a:extLst>
          </p:cNvPr>
          <p:cNvSpPr txBox="1"/>
          <p:nvPr/>
        </p:nvSpPr>
        <p:spPr>
          <a:xfrm>
            <a:off x="7184571" y="4775168"/>
            <a:ext cx="48397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NAME: POOJA .S</a:t>
            </a:r>
          </a:p>
          <a:p>
            <a:r>
              <a:rPr lang="en-IN" dirty="0">
                <a:solidFill>
                  <a:schemeClr val="bg2"/>
                </a:solidFill>
              </a:rPr>
              <a:t>REG NO: 192524326</a:t>
            </a:r>
          </a:p>
          <a:p>
            <a:r>
              <a:rPr lang="en-IN" dirty="0">
                <a:solidFill>
                  <a:schemeClr val="bg2"/>
                </a:solidFill>
              </a:rPr>
              <a:t>COURSE CODE: CSA0508</a:t>
            </a:r>
          </a:p>
          <a:p>
            <a:r>
              <a:rPr lang="en-IN" dirty="0">
                <a:solidFill>
                  <a:schemeClr val="bg2"/>
                </a:solidFill>
              </a:rPr>
              <a:t>COURSE NAME: DATABASE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parts, building from core theory to a complete applied design.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E7ECF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22037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Fundamentals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47802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ER model needed extending, and the core vocabulary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214884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 – 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2608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37360" y="298094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&amp; Generalization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25526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and bottom-up abstraction, side by side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292608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 – 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E7ECF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0332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37360" y="37581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403250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/ overlapping and total / partial participation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70332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 – 14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48056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8056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37360" y="45354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Case Study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37360" y="48097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Person, Student, Employee — a full EER diagram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448056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15 – 18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257800"/>
            <a:ext cx="10881360" cy="649224"/>
          </a:xfrm>
          <a:prstGeom prst="roundRect">
            <a:avLst>
              <a:gd name="adj" fmla="val 9859"/>
            </a:avLst>
          </a:prstGeom>
          <a:solidFill>
            <a:srgbClr val="E7ECF5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57800"/>
            <a:ext cx="822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737360" y="531266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Summary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737360" y="55869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EER modeling pays off in real systems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0" y="5257800"/>
            <a:ext cx="21945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 – 20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EER Model?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Enhanced Entity-Relationship (EER) model adds richer semantics to the classic ER model.</a:t>
            </a:r>
            <a:endParaRPr lang="en-US" sz="145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to model complex applications — engineering, GIS, telecom, university systems — more faithfully.</a:t>
            </a:r>
            <a:endParaRPr lang="en-US" sz="145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four key constructs: specialization, generalization, categories (union types), and attribute/relationship inheritance.</a:t>
            </a:r>
            <a:endParaRPr lang="en-US" sz="145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diagrammed with entities and relationships, but now supports class/subclass hierarchies, much like object-oriented design.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18120" y="196596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199339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35440" y="2514600"/>
            <a:ext cx="0" cy="3657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34272" y="28620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3427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0" y="3264408"/>
            <a:ext cx="173736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0" y="3264408"/>
            <a:ext cx="173736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370332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73075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21240" y="370332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373075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44348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inherits every attribute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relationship of its superclass.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1737360"/>
            <a:ext cx="5760720" cy="3429000"/>
          </a:xfrm>
          <a:prstGeom prst="roundRect">
            <a:avLst>
              <a:gd name="adj" fmla="val 2133"/>
            </a:avLst>
          </a:prstGeom>
          <a:ln w="19050">
            <a:solidFill>
              <a:srgbClr val="E7E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Extend the Basic ER Model?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68780" y="21488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6687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hierarchies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65760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ER treats every entity type as flat and independent — it cannot express "is-a" relationships between types.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502152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0852" y="21488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30852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85032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attributes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03320" y="365760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attributes (name, ID) must be duplicated across similar entity types instead of defined once.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364224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92924" y="21488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739292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47104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real-world fit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65392" y="365760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domains — people, vehicles, accounts — naturally form subtype hierarchies that ER alone can't capture.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226296" y="1874520"/>
            <a:ext cx="2606040" cy="3977640"/>
          </a:xfrm>
          <a:prstGeom prst="roundRect">
            <a:avLst>
              <a:gd name="adj" fmla="val 3158"/>
            </a:avLst>
          </a:prstGeom>
          <a:solidFill>
            <a:srgbClr val="065A82"/>
          </a:solidFill>
          <a:ln/>
          <a:effectLst>
            <a:outerShdw blurRad="101600" dist="254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54996" y="2148840"/>
            <a:ext cx="548640" cy="5486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1025499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09176" y="29260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EER's answer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27464" y="3657600"/>
            <a:ext cx="22037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 / subclass hierarchies with inheritance, plus explicit constraints on how subclasses relate.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FUNDAMENTALS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EER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810512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type whose members are grouped into meaningful subgroups, e.g. PERSON.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88136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254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70048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670048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type representing a meaningful subset of a superclass, e.g. STUDENT or EMPLOYEE.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1088136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850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529584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Inheritance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3529584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automatically has every attribute and relationship of its superclass, plus its 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8136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445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389120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/ Generalization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4389120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processes — one top-down, one bottom-up — used to build the hierarchy.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157216"/>
            <a:ext cx="1088136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404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248656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(Union Type)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5248656"/>
            <a:ext cx="6126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with more than one superclass, drawn from different entity types.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Specialization: A Top-Down 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one superclass and defines subclasses that group members with distinctive attributes or relationships.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differences within the superclass — e.g. not every EMPLOYEE has the same role or attributes.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keeps every attribute of the superclass, and adds its own specific ones.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superclass may have several specializations at once, each based on a different distinguishing feature.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20116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203911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Name, SSN, Salary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144000" y="2560320"/>
            <a:ext cx="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30449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0" y="3447288"/>
            <a:ext cx="192024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3447288"/>
            <a:ext cx="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3447288"/>
            <a:ext cx="192024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38404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8679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5320" y="38404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38679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195560" y="38404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386791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526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one type is split into distinguishable subgroups.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in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617720" y="187452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0" y="19019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2441448"/>
            <a:ext cx="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79592" y="28163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9592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3218688"/>
            <a:ext cx="329184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3218688"/>
            <a:ext cx="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3218688"/>
            <a:ext cx="3291840" cy="4389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3657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3685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Typing Speed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66360" y="3657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685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Engineer Type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12480" y="3657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36850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TGrade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1645920"/>
            <a:ext cx="10881360" cy="3154680"/>
          </a:xfrm>
          <a:prstGeom prst="roundRect">
            <a:avLst>
              <a:gd name="adj" fmla="val 2319"/>
            </a:avLst>
          </a:prstGeom>
          <a:ln w="15875">
            <a:solidFill>
              <a:srgbClr val="C7D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diagram:  </a:t>
            </a: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SECRETARY, ENGINEER, and TECHNICIAN is still an EMPLOYEE — each inherits Name, SSN and Salary automatically, then adds only the attribute that makes it distinct.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Generalization: A Bottom-Up 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several entity types that share common attributes or relationships.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the differences and factors out what's common into a new, higher-level superclass.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process of specialization — same resulting hierarchy, opposite direction of design.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a database evolves from separate entity types that turn out to overlap conceptually.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32918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331927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75320" y="32918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331927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2898648"/>
            <a:ext cx="192024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0" y="2898648"/>
            <a:ext cx="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42832" y="251460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4283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2148840"/>
            <a:ext cx="0" cy="3657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5544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18120" y="158191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Registration No., License Plate 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3977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shared traits of existing types are factored upward.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in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20240" y="4160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418795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Size, #Doors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66360" y="4160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418795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Axles, Tonnage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412480" y="41605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418795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34640" y="3657600"/>
            <a:ext cx="324612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3657600"/>
            <a:ext cx="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3657600"/>
            <a:ext cx="3246120" cy="5029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79592" y="32735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80760" y="2880360"/>
            <a:ext cx="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313432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23408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1691640"/>
            <a:ext cx="10881360" cy="3246120"/>
          </a:xfrm>
          <a:prstGeom prst="roundRect">
            <a:avLst>
              <a:gd name="adj" fmla="val 2254"/>
            </a:avLst>
          </a:prstGeom>
          <a:ln w="15875">
            <a:solidFill>
              <a:srgbClr val="C7D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66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diagram:  </a:t>
            </a: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TRUCK and MOTORCYCLE already existed as separate entity types; VEHICLE is introduced afterward to hold what they have in common (Registration No., License Plate).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SPECIALIZATION &amp; GENERALIZATION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vs. Generalization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with one superclass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meaningful subgroups within it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differences between members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 → Secretary, Engineer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2542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20840" y="301752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with several entity types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out their shared attributes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similarities between members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Car, Truck → VEHICLE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processes describe the same class/subclass relationship — they differ only in the direction the design was created.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1: Disjoint vs. Overlapping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specialization/generalization needs a constraint describing whether an entity can belong to more than one subclass at once.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CF5"/>
          </a:solidFill>
          <a:ln/>
        </p:spPr>
      </p:sp>
      <p:sp>
        <p:nvSpPr>
          <p:cNvPr id="7" name="Shape 5"/>
          <p:cNvSpPr/>
          <p:nvPr/>
        </p:nvSpPr>
        <p:spPr>
          <a:xfrm>
            <a:off x="3022092" y="25877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20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can be a member of at most one subclass. The subclasses do not overlap.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57300" y="44348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3020" y="44622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51860" y="44348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7580" y="44622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212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STUDENT is either UNDERGRAD or GRADUATE — never both.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14884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C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737092" y="25877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70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35204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may be a member of more than one subclass at the same time.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72300" y="44348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8020" y="44622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66860" y="44348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2580" y="44622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5212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TEACHING ASSISTANT is both a STUDENT and an EMPLOYEE.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2: Total vs. Partial Participation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constraint asks whether every superclass member must belong to some subclass.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C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double line. Every member of the superclass MUST belong to at least one subclass.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43100" y="37490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88820" y="377647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3260" y="4251960"/>
            <a:ext cx="0" cy="256032"/>
          </a:xfrm>
          <a:prstGeom prst="line">
            <a:avLst/>
          </a:prstGeom>
          <a:noFill/>
          <a:ln w="3048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4251960"/>
            <a:ext cx="0" cy="256032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4251960"/>
            <a:ext cx="0" cy="256032"/>
          </a:xfrm>
          <a:prstGeom prst="line">
            <a:avLst/>
          </a:prstGeom>
          <a:noFill/>
          <a:ln w="1778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22092" y="44622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2092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05940" y="4864608"/>
            <a:ext cx="1417320" cy="34747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3260" y="4864608"/>
            <a:ext cx="1417320" cy="34747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03020" y="52120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8740" y="52395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43300" y="52120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9020" y="52395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760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every PERSON on campus is either a Student or an Employee.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148840"/>
            <a:ext cx="5166360" cy="4023360"/>
          </a:xfrm>
          <a:prstGeom prst="roundRect">
            <a:avLst>
              <a:gd name="adj" fmla="val 2045"/>
            </a:avLst>
          </a:prstGeom>
          <a:solidFill>
            <a:srgbClr val="E7ECF5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468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Participation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as a single line. Some members of the superclass may belong to no subclass at all.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58100" y="37490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03820" y="377647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38260" y="4251960"/>
            <a:ext cx="0" cy="4114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7092" y="44622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7092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520940" y="4864608"/>
            <a:ext cx="1417320" cy="34747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38260" y="4864608"/>
            <a:ext cx="1417320" cy="34747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18020" y="52120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3740" y="52395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58300" y="521208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04020" y="5239512"/>
            <a:ext cx="1508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57607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not every Employee is a Secretary or Technician — some hold other roles.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Combined Constraint Categories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constraint types combine independently, giving four possible categories for any specialization.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41932" y="23591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193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Total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belongs to exactly one subclass — no exceptions.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5029200"/>
            <a:ext cx="224028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Student / Employee (campus-wide)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02152" y="205740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4004" y="23591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4004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39312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Partial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85032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belongs to at most one subclass, but may belong to none.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85032" y="5029200"/>
            <a:ext cx="224028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Secretary / Engineer / Technician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64224" y="205740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66076" y="23591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6076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1384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Overlap, Total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47104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belongs to at least one subclass, possibly several.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47104" y="5029200"/>
            <a:ext cx="224028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→ Savings / Checking (dual accounts allowed)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26296" y="2057400"/>
            <a:ext cx="2606040" cy="38404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328148" y="235915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28148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63456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Overlap, Partial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09176" y="3474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may belong to several subclasses, or to none.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09176" y="5029200"/>
            <a:ext cx="2240280" cy="0"/>
          </a:xfrm>
          <a:prstGeom prst="line">
            <a:avLst/>
          </a:prstGeom>
          <a:noFill/>
          <a:ln w="12700">
            <a:solidFill>
              <a:srgbClr val="E7EC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9176" y="5120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Student / Employee (Teaching Assistant = both)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&amp; Relationship Inheritance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entity inherits all attributes of its superclass — it does not redefine them.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also inherits every relationship its superclass participates in.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can then add attributes and relationships that are specific to itself only.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is transitive: an entity inherits from every superclass above it in the hierarchy, however many levels 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19659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43800" y="1993392"/>
            <a:ext cx="3017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SSN, Birth_Date, Address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052560" y="2743200"/>
            <a:ext cx="0" cy="4114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51392" y="31363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1392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52560" y="3538728"/>
            <a:ext cx="0" cy="30175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384048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43800" y="3867912"/>
            <a:ext cx="3017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4370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Major, GPA, Enroll_Date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Name, SSN, Birth_Date, Address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PERSON, and adds its own three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5394960" cy="3566160"/>
          </a:xfrm>
          <a:prstGeom prst="roundRect">
            <a:avLst>
              <a:gd name="adj" fmla="val 2051"/>
            </a:avLst>
          </a:prstGeom>
          <a:ln w="19050">
            <a:solidFill>
              <a:srgbClr val="E7E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UNIVERSITY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a University Database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keeps records on every person on campus, but different people need very different data — this is a textbook case for specialization.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B3670"/>
          </a:solidFill>
          <a:ln/>
        </p:spPr>
      </p:sp>
      <p:sp>
        <p:nvSpPr>
          <p:cNvPr id="7" name="Shape 5"/>
          <p:cNvSpPr/>
          <p:nvPr/>
        </p:nvSpPr>
        <p:spPr>
          <a:xfrm>
            <a:off x="1659636" y="264261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165963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388620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associated with the university has a Name, SSN, Birth date and Address.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02152" y="23774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B367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1708" y="264261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1"/>
          <p:cNvSpPr/>
          <p:nvPr/>
        </p:nvSpPr>
        <p:spPr>
          <a:xfrm>
            <a:off x="4521708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85032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03320" y="388620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add a Major, GPA and Enrollment date; some are Undergraduate, some Graduate.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64224" y="23774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B367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83780" y="264261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8" name="Text 16"/>
          <p:cNvSpPr/>
          <p:nvPr/>
        </p:nvSpPr>
        <p:spPr>
          <a:xfrm>
            <a:off x="7383780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7104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65392" y="388620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add a Salary, Hire date and Office; they split into Faculty and Staff.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226296" y="237744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2B367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45852" y="2642616"/>
            <a:ext cx="566928" cy="5669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5852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09176" y="3429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CASE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427464" y="3886200"/>
            <a:ext cx="2203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Assistant is registered as a graduate STUDENT and paid as an EMPLOYEE — both at once.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UNIVERSITY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Identify PERSON's Specialization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is the natural superclass — every record shares Name, SSN, Birth_Date and Address.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subclasses emerge from how a person relates to the university: STUDENT and EMPLOYEE.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overlapping — a person can be both (a Teaching Assistant).</a:t>
            </a:r>
            <a:endParaRPr lang="en-US" sz="1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is total in practice for this case study — everyone modeled is at least one of the two.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210312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26680" y="21305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0" y="2670048"/>
            <a:ext cx="0" cy="210312"/>
          </a:xfrm>
          <a:prstGeom prst="line">
            <a:avLst/>
          </a:prstGeom>
          <a:noFill/>
          <a:ln w="2921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02852" y="2670048"/>
            <a:ext cx="0" cy="210312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85148" y="2670048"/>
            <a:ext cx="0" cy="210312"/>
          </a:xfrm>
          <a:prstGeom prst="line">
            <a:avLst/>
          </a:prstGeom>
          <a:noFill/>
          <a:ln w="1651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42832" y="28620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42832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43800" y="3264408"/>
            <a:ext cx="160020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3264408"/>
            <a:ext cx="160020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657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685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829800" y="3657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368503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4343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· total participation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1874520"/>
            <a:ext cx="5303520" cy="2971800"/>
          </a:xfrm>
          <a:prstGeom prst="roundRect">
            <a:avLst>
              <a:gd name="adj" fmla="val 2462"/>
            </a:avLst>
          </a:prstGeom>
          <a:ln w="19050">
            <a:solidFill>
              <a:srgbClr val="E7EC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UNIVERSITY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University EER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09160" y="16916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171907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2194560"/>
            <a:ext cx="0" cy="210312"/>
          </a:xfrm>
          <a:prstGeom prst="line">
            <a:avLst/>
          </a:prstGeom>
          <a:noFill/>
          <a:ln w="2921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9612" y="2194560"/>
            <a:ext cx="0" cy="210312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1908" y="2194560"/>
            <a:ext cx="0" cy="210312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79592" y="24048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2807208"/>
            <a:ext cx="2651760" cy="34747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807208"/>
            <a:ext cx="2651760" cy="34747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32004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322783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32004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09560" y="322783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3703320"/>
            <a:ext cx="0" cy="210312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2424" y="3703320"/>
            <a:ext cx="0" cy="210312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65576" y="3703320"/>
            <a:ext cx="0" cy="210312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832" y="3913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7832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11680" y="4315968"/>
            <a:ext cx="141732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4315968"/>
            <a:ext cx="141732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3000" y="4709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47365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23360" y="4709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69080" y="47365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3000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GPA, Class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023360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Thesis, Advisor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732520" y="3703320"/>
            <a:ext cx="0" cy="210312"/>
          </a:xfrm>
          <a:prstGeom prst="line">
            <a:avLst/>
          </a:prstGeom>
          <a:noFill/>
          <a:ln w="2794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95944" y="3703320"/>
            <a:ext cx="0" cy="210312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69096" y="3703320"/>
            <a:ext cx="0" cy="210312"/>
          </a:xfrm>
          <a:prstGeom prst="line">
            <a:avLst/>
          </a:prstGeom>
          <a:noFill/>
          <a:ln w="1397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31352" y="3913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31352" y="3913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0" y="4315968"/>
            <a:ext cx="141732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32520" y="4315968"/>
            <a:ext cx="1417320" cy="3931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4709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7365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326880" y="4709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4736592"/>
            <a:ext cx="1600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46520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Rank, Tenure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326880" y="5230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Dept, Shift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464040" y="4160520"/>
            <a:ext cx="2103120" cy="1965960"/>
          </a:xfrm>
          <a:prstGeom prst="roundRect">
            <a:avLst>
              <a:gd name="adj" fmla="val 3256"/>
            </a:avLst>
          </a:prstGeom>
          <a:solidFill>
            <a:srgbClr val="E7ECF5"/>
          </a:solidFill>
          <a:ln/>
        </p:spPr>
      </p:sp>
      <p:sp>
        <p:nvSpPr>
          <p:cNvPr id="45" name="Text 43"/>
          <p:cNvSpPr/>
          <p:nvPr/>
        </p:nvSpPr>
        <p:spPr>
          <a:xfrm>
            <a:off x="960120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82912" y="45079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82912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12680" y="45537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582912" y="491947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82912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12680" y="4965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601200" y="5577840"/>
            <a:ext cx="365760" cy="0"/>
          </a:xfrm>
          <a:prstGeom prst="line">
            <a:avLst/>
          </a:prstGeom>
          <a:noFill/>
          <a:ln w="27940">
            <a:solidFill>
              <a:srgbClr val="2129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1268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UNIVERSITY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Applied in the University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9204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6948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88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Student / Employee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24688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Overlapping, 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246888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Assistant is both; every person modeled is at least 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10881360" cy="1051560"/>
          </a:xfrm>
          <a:prstGeom prst="rect">
            <a:avLst/>
          </a:prstGeom>
          <a:solidFill>
            <a:srgbClr val="F1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2044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Undergrad / Graduate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69480" y="352044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classified as exactly one level at any given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88136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720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→ Faculty / Staff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92040" y="45720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Disjoint,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457200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record is either academic Faculty or administrative Staff, never both.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1965960"/>
            <a:ext cx="10881360" cy="3657600"/>
          </a:xfrm>
          <a:prstGeom prst="roundRect">
            <a:avLst>
              <a:gd name="adj" fmla="val 1250"/>
            </a:avLst>
          </a:prstGeom>
          <a:ln w="12700">
            <a:solidFill>
              <a:srgbClr val="C7D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 · BENEFITS &amp;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EER Model Pays Off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7ECF5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" y="248259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4825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20240" y="2176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reality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257860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of people, vehicles, or accounts map naturally onto real organizational structures.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7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6757416" y="248259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757416" y="24825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80960" y="21762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redundant attributes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257860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lives once, in the superclass, and is inherited everywhere it's needed.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7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996696" y="458571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" y="45857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20240" y="4279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explicit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68172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Disjoint/overlap and total/partial rules are documented on the diagram itself, not left implicit.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0" y="4023360"/>
            <a:ext cx="5120640" cy="1783080"/>
          </a:xfrm>
          <a:prstGeom prst="roundRect">
            <a:avLst>
              <a:gd name="adj" fmla="val 4615"/>
            </a:avLst>
          </a:prstGeom>
          <a:solidFill>
            <a:srgbClr val="E7EC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757416" y="4585716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757416" y="45857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680960" y="42793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complex systems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4681728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subclasses can be added without disturbing the superclass or its existing subclasses.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EER model extends ER with class/subclass hierarchies, inheritance, and categories.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69748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works top-down (superclass → subclasses); generalization works bottom-up (subclasses → superclass).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6616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hierarchy needs two constraints: disjoint/overlapping, and total/partial participation.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43484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case study shows PERSON specializing into overlapping STUDENT/EMPLOYEE, each further specialized disjointly.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58368" y="5532120"/>
            <a:ext cx="1280160" cy="0"/>
          </a:xfrm>
          <a:prstGeom prst="line">
            <a:avLst/>
          </a:prstGeom>
          <a:noFill/>
          <a:ln w="381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715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1878</Words>
  <Application>Microsoft Office PowerPoint</Application>
  <PresentationFormat>Widescreen</PresentationFormat>
  <Paragraphs>347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poojasprv@outlook.com</cp:lastModifiedBy>
  <cp:revision>2</cp:revision>
  <dcterms:created xsi:type="dcterms:W3CDTF">2026-07-21T04:30:02Z</dcterms:created>
  <dcterms:modified xsi:type="dcterms:W3CDTF">2026-07-21T04:35:19Z</dcterms:modified>
</cp:coreProperties>
</file>